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5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194560"/>
            <a:ext cx="6400800" cy="6400800"/>
          </a:xfrm>
          <a:prstGeom prst="ellipse">
            <a:avLst/>
          </a:prstGeom>
          <a:solidFill>
            <a:srgbClr val="211E26"/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206240"/>
            <a:ext cx="5486400" cy="5486400"/>
          </a:xfrm>
          <a:prstGeom prst="ellipse">
            <a:avLst/>
          </a:prstGeom>
          <a:solidFill>
            <a:srgbClr val="211E26"/>
          </a:solidFill>
          <a:ln/>
        </p:spPr>
      </p:sp>
      <p:pic>
        <p:nvPicPr>
          <p:cNvPr id="4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77240"/>
            <a:ext cx="86868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77724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3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22960" y="2331720"/>
            <a:ext cx="9692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3EFF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Space to notice your day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822960" y="36118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B8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browser extension that tracks mindful browsing boundaries and prompts gentle reflection, without ever blocking a website.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489204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211E26"/>
          </a:solidFill>
          <a:ln w="15875">
            <a:solidFill>
              <a:srgbClr val="C86F8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87552" y="5047488"/>
            <a:ext cx="146304" cy="146304"/>
          </a:xfrm>
          <a:prstGeom prst="ellipse">
            <a:avLst/>
          </a:prstGeom>
          <a:solidFill>
            <a:srgbClr val="C86F86"/>
          </a:solidFill>
          <a:ln/>
        </p:spPr>
      </p:sp>
      <p:sp>
        <p:nvSpPr>
          <p:cNvPr id="10" name="Text 7"/>
          <p:cNvSpPr/>
          <p:nvPr/>
        </p:nvSpPr>
        <p:spPr>
          <a:xfrm>
            <a:off x="1188720" y="48920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3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441448" y="489204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211E26"/>
          </a:solidFill>
          <a:ln w="15875">
            <a:solidFill>
              <a:srgbClr val="4F88B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606040" y="5047488"/>
            <a:ext cx="146304" cy="146304"/>
          </a:xfrm>
          <a:prstGeom prst="ellipse">
            <a:avLst/>
          </a:prstGeom>
          <a:solidFill>
            <a:srgbClr val="4F88B9"/>
          </a:solidFill>
          <a:ln/>
        </p:spPr>
      </p:sp>
      <p:sp>
        <p:nvSpPr>
          <p:cNvPr id="13" name="Text 10"/>
          <p:cNvSpPr/>
          <p:nvPr/>
        </p:nvSpPr>
        <p:spPr>
          <a:xfrm>
            <a:off x="2807208" y="48920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3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059936" y="489204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211E26"/>
          </a:solidFill>
          <a:ln w="15875">
            <a:solidFill>
              <a:srgbClr val="8068B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24528" y="5047488"/>
            <a:ext cx="146304" cy="146304"/>
          </a:xfrm>
          <a:prstGeom prst="ellipse">
            <a:avLst/>
          </a:prstGeom>
          <a:solidFill>
            <a:srgbClr val="8068BD"/>
          </a:solidFill>
          <a:ln/>
        </p:spPr>
      </p:sp>
      <p:sp>
        <p:nvSpPr>
          <p:cNvPr id="16" name="Text 13"/>
          <p:cNvSpPr/>
          <p:nvPr/>
        </p:nvSpPr>
        <p:spPr>
          <a:xfrm>
            <a:off x="4425696" y="48920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3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678424" y="489204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211E26"/>
          </a:solidFill>
          <a:ln w="15875">
            <a:solidFill>
              <a:srgbClr val="438D7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843016" y="5047488"/>
            <a:ext cx="146304" cy="146304"/>
          </a:xfrm>
          <a:prstGeom prst="ellipse">
            <a:avLst/>
          </a:prstGeom>
          <a:solidFill>
            <a:srgbClr val="438D70"/>
          </a:solidFill>
          <a:ln/>
        </p:spPr>
      </p:sp>
      <p:sp>
        <p:nvSpPr>
          <p:cNvPr id="19" name="Text 16"/>
          <p:cNvSpPr/>
          <p:nvPr/>
        </p:nvSpPr>
        <p:spPr>
          <a:xfrm>
            <a:off x="6044184" y="48920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3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Pitch  ·  Chrome Extension (Manifest V3)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D7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2723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Screen-time tools make you choose between</a:t>
            </a:r>
            <a:endParaRPr lang="en-US" sz="3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2723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being punished or being ignored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3401568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7E2EA"/>
            </a:solidFill>
            <a:prstDash val="solid"/>
          </a:ln>
          <a:effectLst>
            <a:outerShdw sx="100000" sy="100000" kx="0" ky="0" algn="bl" rotWithShape="0" blurRad="152400" dist="50800" dir="5400000">
              <a:srgbClr val="2A1F3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743200"/>
            <a:ext cx="658368" cy="658368"/>
          </a:xfrm>
          <a:prstGeom prst="ellipse">
            <a:avLst/>
          </a:prstGeom>
          <a:solidFill>
            <a:srgbClr val="C86F86"/>
          </a:solidFill>
          <a:ln/>
        </p:spPr>
      </p:sp>
      <p:pic>
        <p:nvPicPr>
          <p:cNvPr id="6" name="Image 0" descr="icon_b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260" y="2815620"/>
            <a:ext cx="513527" cy="513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566160"/>
            <a:ext cx="26700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723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Hard blockers feel punitive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05840" y="4297680"/>
            <a:ext cx="26700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716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blockers cut off access entirely, so people just disable them, or resent the tool that fights them.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34256" y="2331720"/>
            <a:ext cx="3401568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7E2EA"/>
            </a:solidFill>
            <a:prstDash val="solid"/>
          </a:ln>
          <a:effectLst>
            <a:outerShdw sx="100000" sy="100000" kx="0" ky="0" algn="bl" rotWithShape="0" blurRad="152400" dist="50800" dir="5400000">
              <a:srgbClr val="2A1F36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0016" y="2743200"/>
            <a:ext cx="658368" cy="658368"/>
          </a:xfrm>
          <a:prstGeom prst="ellipse">
            <a:avLst/>
          </a:prstGeom>
          <a:solidFill>
            <a:srgbClr val="4F88B9"/>
          </a:solidFill>
          <a:ln/>
        </p:spPr>
      </p:sp>
      <p:pic>
        <p:nvPicPr>
          <p:cNvPr id="11" name="Image 1" descr="icon_gau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436" y="2815620"/>
            <a:ext cx="513527" cy="513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0016" y="3566160"/>
            <a:ext cx="26700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723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Dashboards show stats, not moments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700016" y="4297680"/>
            <a:ext cx="26700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716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weekly screen-time chart arrives after the scrolling is done. There's no nudge at the moment it matters.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28432" y="2331720"/>
            <a:ext cx="3401568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7E2EA"/>
            </a:solidFill>
            <a:prstDash val="solid"/>
          </a:ln>
          <a:effectLst>
            <a:outerShdw sx="100000" sy="100000" kx="0" ky="0" algn="bl" rotWithShape="0" blurRad="152400" dist="50800" dir="5400000">
              <a:srgbClr val="2A1F36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94192" y="2743200"/>
            <a:ext cx="658368" cy="658368"/>
          </a:xfrm>
          <a:prstGeom prst="ellipse">
            <a:avLst/>
          </a:prstGeom>
          <a:solidFill>
            <a:srgbClr val="8068BD"/>
          </a:solidFill>
          <a:ln/>
        </p:spPr>
      </p:sp>
      <p:pic>
        <p:nvPicPr>
          <p:cNvPr id="16" name="Image 2" descr="icon_heartcra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6612" y="2815620"/>
            <a:ext cx="513527" cy="5135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94192" y="3566160"/>
            <a:ext cx="26700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723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Guilt isn't a strategy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394192" y="4297680"/>
            <a:ext cx="26700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716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Streaks and shame spirals wear down willpower instead of building a sustainable, kinder relationship with the browser.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6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D7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2723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Tracking alone rarely changes behavior.</a:t>
            </a:r>
            <a:endParaRPr lang="en-US" sz="2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2723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Blocking triggers backlash.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401568" cy="34290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7E2EA"/>
            </a:solidFill>
            <a:prstDash val="solid"/>
          </a:ln>
          <a:effectLst>
            <a:outerShdw sx="100000" sy="100000" kx="0" ky="0" algn="bl" rotWithShape="0" blurRad="152400" dist="50800" dir="5400000">
              <a:srgbClr val="2A1F3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651760"/>
            <a:ext cx="658368" cy="658368"/>
          </a:xfrm>
          <a:prstGeom prst="ellipse">
            <a:avLst/>
          </a:prstGeom>
          <a:solidFill>
            <a:srgbClr val="4F88B9"/>
          </a:solidFill>
          <a:ln/>
        </p:spPr>
      </p:sp>
      <p:pic>
        <p:nvPicPr>
          <p:cNvPr id="6" name="Image 0" descr="icon_fl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260" y="2724180"/>
            <a:ext cx="513527" cy="513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456432"/>
            <a:ext cx="26700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723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Self-monitoring alone rarely works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005840" y="4315968"/>
            <a:ext cx="26700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716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longitudinal field study found screen-time tracking builds self-awareness, but rarely leads to an actual reduction in usage on its own.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005840" y="5330952"/>
            <a:ext cx="2670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F8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Zimmermann, J. Assoc. for Consumer Research, 2021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334256" y="2286000"/>
            <a:ext cx="3401568" cy="34290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7E2EA"/>
            </a:solidFill>
            <a:prstDash val="solid"/>
          </a:ln>
          <a:effectLst>
            <a:outerShdw sx="100000" sy="100000" kx="0" ky="0" algn="bl" rotWithShape="0" blurRad="152400" dist="50800" dir="5400000">
              <a:srgbClr val="2A1F36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0016" y="2651760"/>
            <a:ext cx="658368" cy="658368"/>
          </a:xfrm>
          <a:prstGeom prst="ellipse">
            <a:avLst/>
          </a:prstGeom>
          <a:solidFill>
            <a:srgbClr val="C86F86"/>
          </a:solidFill>
          <a:ln/>
        </p:spPr>
      </p:sp>
      <p:pic>
        <p:nvPicPr>
          <p:cNvPr id="12" name="Image 1" descr="icon_b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436" y="2724180"/>
            <a:ext cx="513527" cy="51352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0016" y="3456432"/>
            <a:ext cx="26700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723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Rigid blockers get abandoned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700016" y="4315968"/>
            <a:ext cx="26700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716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controlled experiment, people preferred plain usage tracking over blocking or restrictive nudges, even while rating it as less effective.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700016" y="5330952"/>
            <a:ext cx="2670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8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Zimmermann, J. Assoc. for Consumer Research, 2021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8028432" y="2286000"/>
            <a:ext cx="3401568" cy="34290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7E2EA"/>
            </a:solidFill>
            <a:prstDash val="solid"/>
          </a:ln>
          <a:effectLst>
            <a:outerShdw sx="100000" sy="100000" kx="0" ky="0" algn="bl" rotWithShape="0" blurRad="152400" dist="50800" dir="5400000">
              <a:srgbClr val="2A1F36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94192" y="2651760"/>
            <a:ext cx="658368" cy="658368"/>
          </a:xfrm>
          <a:prstGeom prst="ellipse">
            <a:avLst/>
          </a:prstGeom>
          <a:solidFill>
            <a:srgbClr val="8068BD"/>
          </a:solidFill>
          <a:ln/>
        </p:spPr>
      </p:sp>
      <p:pic>
        <p:nvPicPr>
          <p:cNvPr id="18" name="Image 2" descr="icon_scro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6612" y="2724180"/>
            <a:ext cx="513527" cy="51352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94192" y="3456432"/>
            <a:ext cx="26700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723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Combined approaches perform best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8394192" y="4315968"/>
            <a:ext cx="26700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716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 of 13 leading digital well-being apps found effectiveness ranged from weak to strong. Among the most effective strategies were apps that combined several intervention types, not single-feature tools.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8394192" y="5330952"/>
            <a:ext cx="2670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06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Rahmillah et al., JMIR, 2023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640080" y="5989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16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DOIs: 10.1086/714365  ·  10.2196/42541  ·  sources verified via Google Scholar / PubMed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6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D7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723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Meet Nudge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36192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16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tracks active website time, reminds you when you reach a boundary, and helps you reflect, without blocking access.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3401568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7E2EA"/>
            </a:solidFill>
            <a:prstDash val="solid"/>
          </a:ln>
          <a:effectLst>
            <a:outerShdw sx="100000" sy="100000" kx="0" ky="0" algn="bl" rotWithShape="0" blurRad="152400" dist="50800" dir="5400000">
              <a:srgbClr val="2A1F36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807208"/>
            <a:ext cx="658368" cy="658368"/>
          </a:xfrm>
          <a:prstGeom prst="ellipse">
            <a:avLst/>
          </a:prstGeom>
          <a:solidFill>
            <a:srgbClr val="8D78C9"/>
          </a:solidFill>
          <a:ln/>
        </p:spPr>
      </p:sp>
      <p:pic>
        <p:nvPicPr>
          <p:cNvPr id="7" name="Image 0" descr="icon_clock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260" y="2879628"/>
            <a:ext cx="513527" cy="51352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3630168"/>
            <a:ext cx="2670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8458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Active time only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05840" y="4206240"/>
            <a:ext cx="26700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716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tabs and idle time never count. Only genuine, focused attention is tracked.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34256" y="2423160"/>
            <a:ext cx="3401568" cy="3200400"/>
          </a:xfrm>
          <a:prstGeom prst="roundRect">
            <a:avLst>
              <a:gd name="adj" fmla="val 3429"/>
            </a:avLst>
          </a:prstGeom>
          <a:solidFill>
            <a:srgbClr val="EEE9FB"/>
          </a:solidFill>
          <a:ln w="12700">
            <a:solidFill>
              <a:srgbClr val="8D78C9"/>
            </a:solidFill>
            <a:prstDash val="solid"/>
          </a:ln>
          <a:effectLst>
            <a:outerShdw sx="100000" sy="100000" kx="0" ky="0" algn="bl" rotWithShape="0" blurRad="152400" dist="50800" dir="5400000">
              <a:srgbClr val="2A1F36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0016" y="2807208"/>
            <a:ext cx="658368" cy="658368"/>
          </a:xfrm>
          <a:prstGeom prst="ellipse">
            <a:avLst/>
          </a:prstGeom>
          <a:solidFill>
            <a:srgbClr val="8D78C9"/>
          </a:solidFill>
          <a:ln/>
        </p:spPr>
      </p:sp>
      <p:pic>
        <p:nvPicPr>
          <p:cNvPr id="12" name="Image 1" descr="icon_he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436" y="2879628"/>
            <a:ext cx="513527" cy="51352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0016" y="3630168"/>
            <a:ext cx="2670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8458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Gentle reflection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700016" y="4206240"/>
            <a:ext cx="26700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716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boundary is reached, Nudge suggests a short break and asks how you feel, not a lockout screen.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28432" y="2423160"/>
            <a:ext cx="3401568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7E2EA"/>
            </a:solidFill>
            <a:prstDash val="solid"/>
          </a:ln>
          <a:effectLst>
            <a:outerShdw sx="100000" sy="100000" kx="0" ky="0" algn="bl" rotWithShape="0" blurRad="152400" dist="50800" dir="5400000">
              <a:srgbClr val="2A1F3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94192" y="2807208"/>
            <a:ext cx="658368" cy="658368"/>
          </a:xfrm>
          <a:prstGeom prst="ellipse">
            <a:avLst/>
          </a:prstGeom>
          <a:solidFill>
            <a:srgbClr val="8D78C9"/>
          </a:solidFill>
          <a:ln/>
        </p:spPr>
      </p:sp>
      <p:pic>
        <p:nvPicPr>
          <p:cNvPr id="17" name="Image 2" descr="icon_shield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6612" y="2879628"/>
            <a:ext cx="513527" cy="51352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94192" y="3630168"/>
            <a:ext cx="2670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8458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Local and signed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394192" y="4206240"/>
            <a:ext cx="26700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716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Hostnames and reflections stay on your browser in a signed local store. Nothing is sent anywhere.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6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D7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3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One quiet loop, all day long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2084832" cy="31089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7E2EA"/>
            </a:solidFill>
            <a:prstDash val="solid"/>
          </a:ln>
          <a:effectLst>
            <a:outerShdw sx="100000" sy="100000" kx="0" ky="0" algn="bl" rotWithShape="0" blurRad="152400" dist="50800" dir="5400000">
              <a:srgbClr val="2A1F36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2651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D78C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41248" y="3182112"/>
            <a:ext cx="530352" cy="530352"/>
          </a:xfrm>
          <a:prstGeom prst="ellipse">
            <a:avLst/>
          </a:prstGeom>
          <a:solidFill>
            <a:srgbClr val="8D78C9"/>
          </a:solidFill>
          <a:ln/>
        </p:spPr>
      </p:sp>
      <p:pic>
        <p:nvPicPr>
          <p:cNvPr id="7" name="Image 0" descr="icon_slid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587" y="3240451"/>
            <a:ext cx="413675" cy="4136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3840480"/>
            <a:ext cx="16824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723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Set boundaries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41248" y="4407408"/>
            <a:ext cx="168249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16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daily minutes per category during onboarding, or fine-tune them anytime.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898648" y="2468880"/>
            <a:ext cx="2084832" cy="31089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7E2EA"/>
            </a:solidFill>
            <a:prstDash val="solid"/>
          </a:ln>
          <a:effectLst>
            <a:outerShdw sx="100000" sy="100000" kx="0" ky="0" algn="bl" rotWithShape="0" blurRad="152400" dist="50800" dir="5400000">
              <a:srgbClr val="2A1F36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099816" y="2651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D78C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099816" y="3182112"/>
            <a:ext cx="530352" cy="530352"/>
          </a:xfrm>
          <a:prstGeom prst="ellipse">
            <a:avLst/>
          </a:prstGeom>
          <a:solidFill>
            <a:srgbClr val="8D78C9"/>
          </a:solidFill>
          <a:ln/>
        </p:spPr>
      </p:sp>
      <p:pic>
        <p:nvPicPr>
          <p:cNvPr id="13" name="Image 1" descr="icon_comp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8155" y="3240451"/>
            <a:ext cx="413675" cy="41367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099816" y="3840480"/>
            <a:ext cx="16824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723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Browse normally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099816" y="4407408"/>
            <a:ext cx="168249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16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 watches active tabs in the background: nothing to open, nothing blocked.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157216" y="2468880"/>
            <a:ext cx="2084832" cy="31089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7E2EA"/>
            </a:solidFill>
            <a:prstDash val="solid"/>
          </a:ln>
          <a:effectLst>
            <a:outerShdw sx="100000" sy="100000" kx="0" ky="0" algn="bl" rotWithShape="0" blurRad="152400" dist="50800" dir="5400000">
              <a:srgbClr val="2A1F36">
                <a:alpha val="1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5358384" y="2651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D78C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5358384" y="3182112"/>
            <a:ext cx="530352" cy="530352"/>
          </a:xfrm>
          <a:prstGeom prst="ellipse">
            <a:avLst/>
          </a:prstGeom>
          <a:solidFill>
            <a:srgbClr val="8D78C9"/>
          </a:solidFill>
          <a:ln/>
        </p:spPr>
      </p:sp>
      <p:pic>
        <p:nvPicPr>
          <p:cNvPr id="19" name="Image 2" descr="icon_bellr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723" y="3240451"/>
            <a:ext cx="413675" cy="41367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358384" y="3840480"/>
            <a:ext cx="16824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723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Get a gentle nudge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5358384" y="4407408"/>
            <a:ext cx="168249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16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a boundary and a reminder offers a short break, a snooze, or the choice to continue.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7415784" y="2468880"/>
            <a:ext cx="2084832" cy="31089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7E2EA"/>
            </a:solidFill>
            <a:prstDash val="solid"/>
          </a:ln>
          <a:effectLst>
            <a:outerShdw sx="100000" sy="100000" kx="0" ky="0" algn="bl" rotWithShape="0" blurRad="152400" dist="50800" dir="5400000">
              <a:srgbClr val="2A1F36">
                <a:alpha val="18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7616952" y="2651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D78C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Shape 19"/>
          <p:cNvSpPr/>
          <p:nvPr/>
        </p:nvSpPr>
        <p:spPr>
          <a:xfrm>
            <a:off x="7616952" y="3182112"/>
            <a:ext cx="530352" cy="530352"/>
          </a:xfrm>
          <a:prstGeom prst="ellipse">
            <a:avLst/>
          </a:prstGeom>
          <a:solidFill>
            <a:srgbClr val="8D78C9"/>
          </a:solidFill>
          <a:ln/>
        </p:spPr>
      </p:sp>
      <p:pic>
        <p:nvPicPr>
          <p:cNvPr id="25" name="Image 3" descr="icon_smi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5291" y="3240451"/>
            <a:ext cx="413675" cy="41367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616952" y="3840480"/>
            <a:ext cx="16824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723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Check in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7616952" y="4407408"/>
            <a:ext cx="168249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16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mood score and note capture how the moment actually felt.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9674352" y="2468880"/>
            <a:ext cx="2084832" cy="31089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7E2EA"/>
            </a:solidFill>
            <a:prstDash val="solid"/>
          </a:ln>
          <a:effectLst>
            <a:outerShdw sx="100000" sy="100000" kx="0" ky="0" algn="bl" rotWithShape="0" blurRad="152400" dist="50800" dir="5400000">
              <a:srgbClr val="2A1F36">
                <a:alpha val="18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9875520" y="2651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D78C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Shape 24"/>
          <p:cNvSpPr/>
          <p:nvPr/>
        </p:nvSpPr>
        <p:spPr>
          <a:xfrm>
            <a:off x="9875520" y="3182112"/>
            <a:ext cx="530352" cy="530352"/>
          </a:xfrm>
          <a:prstGeom prst="ellipse">
            <a:avLst/>
          </a:prstGeom>
          <a:solidFill>
            <a:srgbClr val="8D78C9"/>
          </a:solidFill>
          <a:ln/>
        </p:spPr>
      </p:sp>
      <p:pic>
        <p:nvPicPr>
          <p:cNvPr id="31" name="Image 4" descr="icon_calendar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3859" y="3240451"/>
            <a:ext cx="413675" cy="413675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875520" y="3840480"/>
            <a:ext cx="16824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723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Reflect on the day</a:t>
            </a:r>
            <a:endParaRPr lang="en-US" sz="1350" dirty="0"/>
          </a:p>
        </p:txBody>
      </p:sp>
      <p:sp>
        <p:nvSpPr>
          <p:cNvPr id="33" name="Text 26"/>
          <p:cNvSpPr/>
          <p:nvPr/>
        </p:nvSpPr>
        <p:spPr>
          <a:xfrm>
            <a:off x="9875520" y="4407408"/>
            <a:ext cx="168249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16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end-of-day prompt and calendar view turn moments into patterns.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6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D7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2723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Choice-based reminders and mood check-ins</a:t>
            </a:r>
            <a:endParaRPr lang="en-US" sz="2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2723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move the needle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401568" cy="2331720"/>
          </a:xfrm>
          <a:prstGeom prst="roundRect">
            <a:avLst>
              <a:gd name="adj" fmla="val 4706"/>
            </a:avLst>
          </a:prstGeom>
          <a:solidFill>
            <a:srgbClr val="EEE9FB"/>
          </a:solidFill>
          <a:ln w="12700">
            <a:solidFill>
              <a:srgbClr val="8D78C9"/>
            </a:solidFill>
            <a:prstDash val="solid"/>
          </a:ln>
          <a:effectLst>
            <a:outerShdw sx="100000" sy="100000" kx="0" ky="0" algn="bl" rotWithShape="0" blurRad="152400" dist="50800" dir="5400000">
              <a:srgbClr val="2A1F3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560320"/>
            <a:ext cx="548640" cy="548640"/>
          </a:xfrm>
          <a:prstGeom prst="ellipse">
            <a:avLst/>
          </a:prstGeom>
          <a:solidFill>
            <a:srgbClr val="8D78C9"/>
          </a:solidFill>
          <a:ln/>
        </p:spPr>
      </p:sp>
      <p:pic>
        <p:nvPicPr>
          <p:cNvPr id="6" name="Image 0" descr="icon_bellr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262067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54203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58458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Choice beats coercion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60120" y="3291840"/>
            <a:ext cx="276148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716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randomized trial found that tools failing to respect user preference on when and how an intervention occurs often trigger reactance. Full-screen reminders offering a choice to continue or stop were built specifically to avoid that.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34256" y="2286000"/>
            <a:ext cx="3401568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7E2EA"/>
            </a:solidFill>
            <a:prstDash val="solid"/>
          </a:ln>
          <a:effectLst>
            <a:outerShdw sx="100000" sy="100000" kx="0" ky="0" algn="bl" rotWithShape="0" blurRad="152400" dist="50800" dir="5400000">
              <a:srgbClr val="2A1F36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54296" y="2560320"/>
            <a:ext cx="548640" cy="548640"/>
          </a:xfrm>
          <a:prstGeom prst="ellipse">
            <a:avLst/>
          </a:prstGeom>
          <a:solidFill>
            <a:srgbClr val="8D78C9"/>
          </a:solidFill>
          <a:ln/>
        </p:spPr>
      </p:sp>
      <p:pic>
        <p:nvPicPr>
          <p:cNvPr id="11" name="Image 1" descr="icon_sm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262067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0096" y="254203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58458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Mood-awareness cuts distraction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54296" y="3291840"/>
            <a:ext cx="276148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716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10-day trial (n=143) combining mindfulness, self-monitoring, and mood tracking produced large drops in smartphone distraction, driven specifically by emotional self-awareness.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28432" y="2286000"/>
            <a:ext cx="3401568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7E2EA"/>
            </a:solidFill>
            <a:prstDash val="solid"/>
          </a:ln>
          <a:effectLst>
            <a:outerShdw sx="100000" sy="100000" kx="0" ky="0" algn="bl" rotWithShape="0" blurRad="152400" dist="50800" dir="5400000">
              <a:srgbClr val="2A1F36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48472" y="2560320"/>
            <a:ext cx="548640" cy="548640"/>
          </a:xfrm>
          <a:prstGeom prst="ellipse">
            <a:avLst/>
          </a:prstGeom>
          <a:solidFill>
            <a:srgbClr val="8D78C9"/>
          </a:solidFill>
          <a:ln/>
        </p:spPr>
      </p:sp>
      <p:pic>
        <p:nvPicPr>
          <p:cNvPr id="16" name="Image 2" descr="icon_slid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8822" y="2620670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34272" y="254203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58458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Customization drives adherence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48472" y="3291840"/>
            <a:ext cx="276148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716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trial's app let people set their own time limits per app, rather than fixed one-size-fits-all limits, as part of its design to reduce user resistance.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4892040"/>
            <a:ext cx="108813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7E2EA"/>
            </a:solidFill>
            <a:prstDash val="solid"/>
          </a:ln>
          <a:effectLst>
            <a:outerShdw sx="100000" sy="100000" kx="0" ky="0" algn="bl" rotWithShape="0" blurRad="152400" dist="50800" dir="5400000">
              <a:srgbClr val="2A1F36">
                <a:alpha val="18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960120" y="5093208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D78C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~27 min/day</a:t>
            </a:r>
            <a:endParaRPr lang="en-US" sz="3400" dirty="0"/>
          </a:p>
        </p:txBody>
      </p:sp>
      <p:sp>
        <p:nvSpPr>
          <p:cNvPr id="21" name="Text 16"/>
          <p:cNvSpPr/>
          <p:nvPr/>
        </p:nvSpPr>
        <p:spPr>
          <a:xfrm>
            <a:off x="3520440" y="4937760"/>
            <a:ext cx="5577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716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daily use of a person's most-used app in a 3-week randomized trial of a customizable, choice-based reminder app: the same non-blocking model Nudge is built on. (The trial found no significant change in self-reported "problematic use" scores, only in actual time spent.)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9235440" y="5093208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16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Mertens et al.,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716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JMIR mHealth and uHealth, 2026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16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Throuvala et al., 2020 (doi:10.3390/ijerph17134842)  ·  Mertens et al., 2026 (doi:10.2196/56824)  ·  sources verified via Google Scholar / PubMed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6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D7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723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Boundaries create reminders. They never block.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3619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16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site is auto-sorted into a category with built-in starter rules, fully editable per site, category, or overall browsing.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487168" cy="1920240"/>
          </a:xfrm>
          <a:prstGeom prst="roundRect">
            <a:avLst>
              <a:gd name="adj" fmla="val 5714"/>
            </a:avLst>
          </a:prstGeom>
          <a:solidFill>
            <a:srgbClr val="FAE8ED"/>
          </a:solidFill>
          <a:ln w="12700">
            <a:solidFill>
              <a:srgbClr val="C86F86"/>
            </a:solidFill>
            <a:prstDash val="solid"/>
          </a:ln>
          <a:effectLst>
            <a:outerShdw sx="100000" sy="100000" kx="0" ky="0" algn="bl" rotWithShape="0" blurRad="152400" dist="50800" dir="5400000">
              <a:srgbClr val="2A1F36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606040"/>
            <a:ext cx="566928" cy="566928"/>
          </a:xfrm>
          <a:prstGeom prst="ellipse">
            <a:avLst/>
          </a:prstGeom>
          <a:solidFill>
            <a:srgbClr val="C86F86"/>
          </a:solidFill>
          <a:ln/>
        </p:spPr>
      </p:sp>
      <p:pic>
        <p:nvPicPr>
          <p:cNvPr id="7" name="Image 0" descr="icon_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762" y="2668402"/>
            <a:ext cx="442204" cy="4422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29184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23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Social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3630168"/>
            <a:ext cx="1938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716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instagram, x, reddit, linkedin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83280" y="2331720"/>
            <a:ext cx="2487168" cy="1920240"/>
          </a:xfrm>
          <a:prstGeom prst="roundRect">
            <a:avLst>
              <a:gd name="adj" fmla="val 5714"/>
            </a:avLst>
          </a:prstGeom>
          <a:solidFill>
            <a:srgbClr val="E5F1FA"/>
          </a:solidFill>
          <a:ln w="12700">
            <a:solidFill>
              <a:srgbClr val="4F88B9"/>
            </a:solidFill>
            <a:prstDash val="solid"/>
          </a:ln>
          <a:effectLst>
            <a:outerShdw sx="100000" sy="100000" kx="0" ky="0" algn="bl" rotWithShape="0" blurRad="152400" dist="50800" dir="5400000">
              <a:srgbClr val="2A1F36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0" y="2606040"/>
            <a:ext cx="566928" cy="566928"/>
          </a:xfrm>
          <a:prstGeom prst="ellipse">
            <a:avLst/>
          </a:prstGeom>
          <a:solidFill>
            <a:srgbClr val="4F88B9"/>
          </a:solidFill>
          <a:ln/>
        </p:spPr>
      </p:sp>
      <p:pic>
        <p:nvPicPr>
          <p:cNvPr id="12" name="Image 1" descr="icon_briefc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9962" y="2668402"/>
            <a:ext cx="442204" cy="4422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57600" y="329184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23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Work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57600" y="3630168"/>
            <a:ext cx="1938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716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github, notion, docs, slack, figma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126480" y="2331720"/>
            <a:ext cx="2487168" cy="1920240"/>
          </a:xfrm>
          <a:prstGeom prst="roundRect">
            <a:avLst>
              <a:gd name="adj" fmla="val 5714"/>
            </a:avLst>
          </a:prstGeom>
          <a:solidFill>
            <a:srgbClr val="EEE9FB"/>
          </a:solidFill>
          <a:ln w="12700">
            <a:solidFill>
              <a:srgbClr val="8068BD"/>
            </a:solidFill>
            <a:prstDash val="solid"/>
          </a:ln>
          <a:effectLst>
            <a:outerShdw sx="100000" sy="100000" kx="0" ky="0" algn="bl" rotWithShape="0" blurRad="152400" dist="50800" dir="5400000">
              <a:srgbClr val="2A1F3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00800" y="2606040"/>
            <a:ext cx="566928" cy="566928"/>
          </a:xfrm>
          <a:prstGeom prst="ellipse">
            <a:avLst/>
          </a:prstGeom>
          <a:solidFill>
            <a:srgbClr val="8068BD"/>
          </a:solidFill>
          <a:ln/>
        </p:spPr>
      </p:sp>
      <p:pic>
        <p:nvPicPr>
          <p:cNvPr id="17" name="Image 2" descr="icon_wav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3162" y="2668402"/>
            <a:ext cx="442204" cy="44220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00800" y="329184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23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Relax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00800" y="3630168"/>
            <a:ext cx="1938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716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youtube, netflix, twitch, spotify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8869680" y="2331720"/>
            <a:ext cx="2487168" cy="1920240"/>
          </a:xfrm>
          <a:prstGeom prst="roundRect">
            <a:avLst>
              <a:gd name="adj" fmla="val 5714"/>
            </a:avLst>
          </a:prstGeom>
          <a:solidFill>
            <a:srgbClr val="E3F4EC"/>
          </a:solidFill>
          <a:ln w="12700">
            <a:solidFill>
              <a:srgbClr val="438D70"/>
            </a:solidFill>
            <a:prstDash val="solid"/>
          </a:ln>
          <a:effectLst>
            <a:outerShdw sx="100000" sy="100000" kx="0" ky="0" algn="bl" rotWithShape="0" blurRad="152400" dist="50800" dir="5400000">
              <a:srgbClr val="2A1F36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144000" y="2606040"/>
            <a:ext cx="566928" cy="566928"/>
          </a:xfrm>
          <a:prstGeom prst="ellipse">
            <a:avLst/>
          </a:prstGeom>
          <a:solidFill>
            <a:srgbClr val="438D70"/>
          </a:solidFill>
          <a:ln/>
        </p:spPr>
      </p:sp>
      <p:pic>
        <p:nvPicPr>
          <p:cNvPr id="22" name="Image 3" descr="icon_circled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362" y="2668402"/>
            <a:ext cx="442204" cy="44220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44000" y="329184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23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Other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144000" y="3630168"/>
            <a:ext cx="1938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716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you define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640080" y="4526280"/>
            <a:ext cx="108813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7E2EA"/>
            </a:solidFill>
            <a:prstDash val="solid"/>
          </a:ln>
          <a:effectLst>
            <a:outerShdw sx="100000" sy="100000" kx="0" ky="0" algn="bl" rotWithShape="0" blurRad="152400" dist="50800" dir="5400000">
              <a:srgbClr val="2A1F36">
                <a:alpha val="18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960120" y="47274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458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Flexible limit scopes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960120" y="5239512"/>
            <a:ext cx="109728" cy="109728"/>
          </a:xfrm>
          <a:prstGeom prst="ellipse">
            <a:avLst/>
          </a:prstGeom>
          <a:solidFill>
            <a:srgbClr val="8D78C9"/>
          </a:solidFill>
          <a:ln/>
        </p:spPr>
      </p:sp>
      <p:sp>
        <p:nvSpPr>
          <p:cNvPr id="28" name="Text 22"/>
          <p:cNvSpPr/>
          <p:nvPr/>
        </p:nvSpPr>
        <p:spPr>
          <a:xfrm>
            <a:off x="1179576" y="510235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site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1179576" y="542239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6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20 min/day on reddit.com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4480560" y="5239512"/>
            <a:ext cx="109728" cy="109728"/>
          </a:xfrm>
          <a:prstGeom prst="ellipse">
            <a:avLst/>
          </a:prstGeom>
          <a:solidFill>
            <a:srgbClr val="8D78C9"/>
          </a:solidFill>
          <a:ln/>
        </p:spPr>
      </p:sp>
      <p:sp>
        <p:nvSpPr>
          <p:cNvPr id="31" name="Text 25"/>
          <p:cNvSpPr/>
          <p:nvPr/>
        </p:nvSpPr>
        <p:spPr>
          <a:xfrm>
            <a:off x="4700016" y="510235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category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4700016" y="542239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6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30 min/day of Social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8001000" y="5239512"/>
            <a:ext cx="109728" cy="109728"/>
          </a:xfrm>
          <a:prstGeom prst="ellipse">
            <a:avLst/>
          </a:prstGeom>
          <a:solidFill>
            <a:srgbClr val="8D78C9"/>
          </a:solidFill>
          <a:ln/>
        </p:spPr>
      </p:sp>
      <p:sp>
        <p:nvSpPr>
          <p:cNvPr id="34" name="Text 28"/>
          <p:cNvSpPr/>
          <p:nvPr/>
        </p:nvSpPr>
        <p:spPr>
          <a:xfrm>
            <a:off x="8220456" y="510235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1250" dirty="0"/>
          </a:p>
        </p:txBody>
      </p:sp>
      <p:sp>
        <p:nvSpPr>
          <p:cNvPr id="35" name="Text 29"/>
          <p:cNvSpPr/>
          <p:nvPr/>
        </p:nvSpPr>
        <p:spPr>
          <a:xfrm>
            <a:off x="8220456" y="542239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6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4 hrs/day of tracked browsing</a:t>
            </a:r>
            <a:endParaRPr lang="en-US" sz="1050" dirty="0"/>
          </a:p>
        </p:txBody>
      </p:sp>
      <p:sp>
        <p:nvSpPr>
          <p:cNvPr id="36" name="Text 30"/>
          <p:cNvSpPr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6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D7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&amp; TRENDS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3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Your personal day, visualized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36192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716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"Personal day" resets on your schedule, not just midnight, so limits, timelines, and the calendar all follow your real rhythm.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798064"/>
            <a:ext cx="118872" cy="118872"/>
          </a:xfrm>
          <a:prstGeom prst="ellipse">
            <a:avLst/>
          </a:prstGeom>
          <a:solidFill>
            <a:srgbClr val="8D78C9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63347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view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96112" y="29260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16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merged activity timeline plus mood check-ins throughout the day.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3666744"/>
            <a:ext cx="118872" cy="118872"/>
          </a:xfrm>
          <a:prstGeom prst="ellipse">
            <a:avLst/>
          </a:prstGeom>
          <a:solidFill>
            <a:srgbClr val="8D78C9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350215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view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96112" y="37947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16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or full-month view with a category breakdown bar per day.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4535424"/>
            <a:ext cx="118872" cy="118872"/>
          </a:xfrm>
          <a:prstGeom prst="ellipse">
            <a:avLst/>
          </a:prstGeom>
          <a:solidFill>
            <a:srgbClr val="8D78C9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437083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reflection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96112" y="46634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16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mood score (1–5) with an optional note at day's end.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55080" y="2331720"/>
            <a:ext cx="516636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E7E2EA"/>
            </a:solidFill>
            <a:prstDash val="solid"/>
          </a:ln>
          <a:effectLst>
            <a:outerShdw sx="100000" sy="100000" kx="0" ky="0" algn="bl" rotWithShape="0" blurRad="152400" dist="50800" dir="5400000">
              <a:srgbClr val="2A1F36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75120" y="25877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23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This week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766560" y="4594860"/>
            <a:ext cx="479407" cy="800100"/>
          </a:xfrm>
          <a:prstGeom prst="roundRect">
            <a:avLst/>
          </a:prstGeom>
          <a:solidFill>
            <a:srgbClr val="C86F86"/>
          </a:solidFill>
          <a:ln/>
        </p:spPr>
      </p:sp>
      <p:sp>
        <p:nvSpPr>
          <p:cNvPr id="17" name="Shape 15"/>
          <p:cNvSpPr/>
          <p:nvPr/>
        </p:nvSpPr>
        <p:spPr>
          <a:xfrm>
            <a:off x="6766560" y="3909060"/>
            <a:ext cx="479407" cy="685800"/>
          </a:xfrm>
          <a:prstGeom prst="roundRect">
            <a:avLst/>
          </a:prstGeom>
          <a:solidFill>
            <a:srgbClr val="4F88B9"/>
          </a:solidFill>
          <a:ln/>
        </p:spPr>
      </p:sp>
      <p:sp>
        <p:nvSpPr>
          <p:cNvPr id="18" name="Shape 16"/>
          <p:cNvSpPr/>
          <p:nvPr/>
        </p:nvSpPr>
        <p:spPr>
          <a:xfrm>
            <a:off x="6766560" y="3451860"/>
            <a:ext cx="479407" cy="457200"/>
          </a:xfrm>
          <a:prstGeom prst="roundRect">
            <a:avLst/>
          </a:prstGeom>
          <a:solidFill>
            <a:srgbClr val="8068BD"/>
          </a:solidFill>
          <a:ln/>
        </p:spPr>
      </p:sp>
      <p:sp>
        <p:nvSpPr>
          <p:cNvPr id="19" name="Shape 17"/>
          <p:cNvSpPr/>
          <p:nvPr/>
        </p:nvSpPr>
        <p:spPr>
          <a:xfrm>
            <a:off x="6766560" y="3108960"/>
            <a:ext cx="479407" cy="342900"/>
          </a:xfrm>
          <a:prstGeom prst="roundRect">
            <a:avLst>
              <a:gd name="adj" fmla="val 10667"/>
            </a:avLst>
          </a:prstGeom>
          <a:solidFill>
            <a:srgbClr val="438D70"/>
          </a:solidFill>
          <a:ln/>
        </p:spPr>
      </p:sp>
      <p:sp>
        <p:nvSpPr>
          <p:cNvPr id="20" name="Text 18"/>
          <p:cNvSpPr/>
          <p:nvPr/>
        </p:nvSpPr>
        <p:spPr>
          <a:xfrm>
            <a:off x="6720840" y="5468112"/>
            <a:ext cx="57084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16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410559" y="4937760"/>
            <a:ext cx="479407" cy="457200"/>
          </a:xfrm>
          <a:prstGeom prst="roundRect">
            <a:avLst/>
          </a:prstGeom>
          <a:solidFill>
            <a:srgbClr val="C86F86"/>
          </a:solidFill>
          <a:ln/>
        </p:spPr>
      </p:sp>
      <p:sp>
        <p:nvSpPr>
          <p:cNvPr id="22" name="Shape 20"/>
          <p:cNvSpPr/>
          <p:nvPr/>
        </p:nvSpPr>
        <p:spPr>
          <a:xfrm>
            <a:off x="7410559" y="3909060"/>
            <a:ext cx="479407" cy="1028700"/>
          </a:xfrm>
          <a:prstGeom prst="roundRect">
            <a:avLst/>
          </a:prstGeom>
          <a:solidFill>
            <a:srgbClr val="4F88B9"/>
          </a:solidFill>
          <a:ln/>
        </p:spPr>
      </p:sp>
      <p:sp>
        <p:nvSpPr>
          <p:cNvPr id="23" name="Shape 21"/>
          <p:cNvSpPr/>
          <p:nvPr/>
        </p:nvSpPr>
        <p:spPr>
          <a:xfrm>
            <a:off x="7410559" y="3451860"/>
            <a:ext cx="479407" cy="457200"/>
          </a:xfrm>
          <a:prstGeom prst="roundRect">
            <a:avLst/>
          </a:prstGeom>
          <a:solidFill>
            <a:srgbClr val="8068BD"/>
          </a:solidFill>
          <a:ln/>
        </p:spPr>
      </p:sp>
      <p:sp>
        <p:nvSpPr>
          <p:cNvPr id="24" name="Shape 22"/>
          <p:cNvSpPr/>
          <p:nvPr/>
        </p:nvSpPr>
        <p:spPr>
          <a:xfrm>
            <a:off x="7410559" y="3108960"/>
            <a:ext cx="479407" cy="342900"/>
          </a:xfrm>
          <a:prstGeom prst="roundRect">
            <a:avLst>
              <a:gd name="adj" fmla="val 10667"/>
            </a:avLst>
          </a:prstGeom>
          <a:solidFill>
            <a:srgbClr val="438D70"/>
          </a:solidFill>
          <a:ln/>
        </p:spPr>
      </p:sp>
      <p:sp>
        <p:nvSpPr>
          <p:cNvPr id="25" name="Text 23"/>
          <p:cNvSpPr/>
          <p:nvPr/>
        </p:nvSpPr>
        <p:spPr>
          <a:xfrm>
            <a:off x="7364839" y="5468112"/>
            <a:ext cx="57084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16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054558" y="4709160"/>
            <a:ext cx="479407" cy="685800"/>
          </a:xfrm>
          <a:prstGeom prst="roundRect">
            <a:avLst/>
          </a:prstGeom>
          <a:solidFill>
            <a:srgbClr val="C86F86"/>
          </a:solidFill>
          <a:ln/>
        </p:spPr>
      </p:sp>
      <p:sp>
        <p:nvSpPr>
          <p:cNvPr id="27" name="Shape 25"/>
          <p:cNvSpPr/>
          <p:nvPr/>
        </p:nvSpPr>
        <p:spPr>
          <a:xfrm>
            <a:off x="8054558" y="3909060"/>
            <a:ext cx="479407" cy="800100"/>
          </a:xfrm>
          <a:prstGeom prst="roundRect">
            <a:avLst/>
          </a:prstGeom>
          <a:solidFill>
            <a:srgbClr val="4F88B9"/>
          </a:solidFill>
          <a:ln/>
        </p:spPr>
      </p:sp>
      <p:sp>
        <p:nvSpPr>
          <p:cNvPr id="28" name="Shape 26"/>
          <p:cNvSpPr/>
          <p:nvPr/>
        </p:nvSpPr>
        <p:spPr>
          <a:xfrm>
            <a:off x="8054558" y="3451860"/>
            <a:ext cx="479407" cy="457200"/>
          </a:xfrm>
          <a:prstGeom prst="roundRect">
            <a:avLst/>
          </a:prstGeom>
          <a:solidFill>
            <a:srgbClr val="8068BD"/>
          </a:solidFill>
          <a:ln/>
        </p:spPr>
      </p:sp>
      <p:sp>
        <p:nvSpPr>
          <p:cNvPr id="29" name="Shape 27"/>
          <p:cNvSpPr/>
          <p:nvPr/>
        </p:nvSpPr>
        <p:spPr>
          <a:xfrm>
            <a:off x="8054558" y="3108960"/>
            <a:ext cx="479407" cy="342900"/>
          </a:xfrm>
          <a:prstGeom prst="roundRect">
            <a:avLst>
              <a:gd name="adj" fmla="val 10667"/>
            </a:avLst>
          </a:prstGeom>
          <a:solidFill>
            <a:srgbClr val="438D70"/>
          </a:solidFill>
          <a:ln/>
        </p:spPr>
      </p:sp>
      <p:sp>
        <p:nvSpPr>
          <p:cNvPr id="30" name="Text 28"/>
          <p:cNvSpPr/>
          <p:nvPr/>
        </p:nvSpPr>
        <p:spPr>
          <a:xfrm>
            <a:off x="8008838" y="5468112"/>
            <a:ext cx="57084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16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698557" y="5052060"/>
            <a:ext cx="479407" cy="342900"/>
          </a:xfrm>
          <a:prstGeom prst="roundRect">
            <a:avLst/>
          </a:prstGeom>
          <a:solidFill>
            <a:srgbClr val="C86F86"/>
          </a:solidFill>
          <a:ln/>
        </p:spPr>
      </p:sp>
      <p:sp>
        <p:nvSpPr>
          <p:cNvPr id="32" name="Shape 30"/>
          <p:cNvSpPr/>
          <p:nvPr/>
        </p:nvSpPr>
        <p:spPr>
          <a:xfrm>
            <a:off x="8698557" y="3909060"/>
            <a:ext cx="479407" cy="1143000"/>
          </a:xfrm>
          <a:prstGeom prst="roundRect">
            <a:avLst/>
          </a:prstGeom>
          <a:solidFill>
            <a:srgbClr val="4F88B9"/>
          </a:solidFill>
          <a:ln/>
        </p:spPr>
      </p:sp>
      <p:sp>
        <p:nvSpPr>
          <p:cNvPr id="33" name="Shape 31"/>
          <p:cNvSpPr/>
          <p:nvPr/>
        </p:nvSpPr>
        <p:spPr>
          <a:xfrm>
            <a:off x="8698557" y="3451860"/>
            <a:ext cx="479407" cy="457200"/>
          </a:xfrm>
          <a:prstGeom prst="roundRect">
            <a:avLst/>
          </a:prstGeom>
          <a:solidFill>
            <a:srgbClr val="8068BD"/>
          </a:solidFill>
          <a:ln/>
        </p:spPr>
      </p:sp>
      <p:sp>
        <p:nvSpPr>
          <p:cNvPr id="34" name="Shape 32"/>
          <p:cNvSpPr/>
          <p:nvPr/>
        </p:nvSpPr>
        <p:spPr>
          <a:xfrm>
            <a:off x="8698557" y="3108960"/>
            <a:ext cx="479407" cy="342900"/>
          </a:xfrm>
          <a:prstGeom prst="roundRect">
            <a:avLst>
              <a:gd name="adj" fmla="val 10667"/>
            </a:avLst>
          </a:prstGeom>
          <a:solidFill>
            <a:srgbClr val="438D70"/>
          </a:solidFill>
          <a:ln/>
        </p:spPr>
      </p:sp>
      <p:sp>
        <p:nvSpPr>
          <p:cNvPr id="35" name="Text 33"/>
          <p:cNvSpPr/>
          <p:nvPr/>
        </p:nvSpPr>
        <p:spPr>
          <a:xfrm>
            <a:off x="8652837" y="5468112"/>
            <a:ext cx="57084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16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342555" y="4480560"/>
            <a:ext cx="479407" cy="914400"/>
          </a:xfrm>
          <a:prstGeom prst="roundRect">
            <a:avLst/>
          </a:prstGeom>
          <a:solidFill>
            <a:srgbClr val="C86F86"/>
          </a:solidFill>
          <a:ln/>
        </p:spPr>
      </p:sp>
      <p:sp>
        <p:nvSpPr>
          <p:cNvPr id="37" name="Shape 35"/>
          <p:cNvSpPr/>
          <p:nvPr/>
        </p:nvSpPr>
        <p:spPr>
          <a:xfrm>
            <a:off x="9342555" y="3909060"/>
            <a:ext cx="479407" cy="571500"/>
          </a:xfrm>
          <a:prstGeom prst="roundRect">
            <a:avLst/>
          </a:prstGeom>
          <a:solidFill>
            <a:srgbClr val="4F88B9"/>
          </a:solidFill>
          <a:ln/>
        </p:spPr>
      </p:sp>
      <p:sp>
        <p:nvSpPr>
          <p:cNvPr id="38" name="Shape 36"/>
          <p:cNvSpPr/>
          <p:nvPr/>
        </p:nvSpPr>
        <p:spPr>
          <a:xfrm>
            <a:off x="9342555" y="3451860"/>
            <a:ext cx="479407" cy="457200"/>
          </a:xfrm>
          <a:prstGeom prst="roundRect">
            <a:avLst/>
          </a:prstGeom>
          <a:solidFill>
            <a:srgbClr val="8068BD"/>
          </a:solidFill>
          <a:ln/>
        </p:spPr>
      </p:sp>
      <p:sp>
        <p:nvSpPr>
          <p:cNvPr id="39" name="Shape 37"/>
          <p:cNvSpPr/>
          <p:nvPr/>
        </p:nvSpPr>
        <p:spPr>
          <a:xfrm>
            <a:off x="9342555" y="3108960"/>
            <a:ext cx="479407" cy="342900"/>
          </a:xfrm>
          <a:prstGeom prst="roundRect">
            <a:avLst>
              <a:gd name="adj" fmla="val 10667"/>
            </a:avLst>
          </a:prstGeom>
          <a:solidFill>
            <a:srgbClr val="438D70"/>
          </a:solidFill>
          <a:ln/>
        </p:spPr>
      </p:sp>
      <p:sp>
        <p:nvSpPr>
          <p:cNvPr id="40" name="Text 38"/>
          <p:cNvSpPr/>
          <p:nvPr/>
        </p:nvSpPr>
        <p:spPr>
          <a:xfrm>
            <a:off x="9296835" y="5468112"/>
            <a:ext cx="57084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16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9986554" y="5052060"/>
            <a:ext cx="479407" cy="342900"/>
          </a:xfrm>
          <a:prstGeom prst="roundRect">
            <a:avLst/>
          </a:prstGeom>
          <a:solidFill>
            <a:srgbClr val="C86F86"/>
          </a:solidFill>
          <a:ln/>
        </p:spPr>
      </p:sp>
      <p:sp>
        <p:nvSpPr>
          <p:cNvPr id="42" name="Shape 40"/>
          <p:cNvSpPr/>
          <p:nvPr/>
        </p:nvSpPr>
        <p:spPr>
          <a:xfrm>
            <a:off x="9986554" y="4823460"/>
            <a:ext cx="479407" cy="228600"/>
          </a:xfrm>
          <a:prstGeom prst="roundRect">
            <a:avLst/>
          </a:prstGeom>
          <a:solidFill>
            <a:srgbClr val="4F88B9"/>
          </a:solidFill>
          <a:ln/>
        </p:spPr>
      </p:sp>
      <p:sp>
        <p:nvSpPr>
          <p:cNvPr id="43" name="Shape 41"/>
          <p:cNvSpPr/>
          <p:nvPr/>
        </p:nvSpPr>
        <p:spPr>
          <a:xfrm>
            <a:off x="9986554" y="3566160"/>
            <a:ext cx="479407" cy="1257300"/>
          </a:xfrm>
          <a:prstGeom prst="roundRect">
            <a:avLst/>
          </a:prstGeom>
          <a:solidFill>
            <a:srgbClr val="8068BD"/>
          </a:solidFill>
          <a:ln/>
        </p:spPr>
      </p:sp>
      <p:sp>
        <p:nvSpPr>
          <p:cNvPr id="44" name="Shape 42"/>
          <p:cNvSpPr/>
          <p:nvPr/>
        </p:nvSpPr>
        <p:spPr>
          <a:xfrm>
            <a:off x="9986554" y="3108960"/>
            <a:ext cx="479407" cy="457200"/>
          </a:xfrm>
          <a:prstGeom prst="roundRect">
            <a:avLst>
              <a:gd name="adj" fmla="val 8000"/>
            </a:avLst>
          </a:prstGeom>
          <a:solidFill>
            <a:srgbClr val="438D70"/>
          </a:solidFill>
          <a:ln/>
        </p:spPr>
      </p:sp>
      <p:sp>
        <p:nvSpPr>
          <p:cNvPr id="45" name="Text 43"/>
          <p:cNvSpPr/>
          <p:nvPr/>
        </p:nvSpPr>
        <p:spPr>
          <a:xfrm>
            <a:off x="9940834" y="5468112"/>
            <a:ext cx="57084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16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0630553" y="5166360"/>
            <a:ext cx="479407" cy="228600"/>
          </a:xfrm>
          <a:prstGeom prst="roundRect">
            <a:avLst/>
          </a:prstGeom>
          <a:solidFill>
            <a:srgbClr val="C86F86"/>
          </a:solidFill>
          <a:ln/>
        </p:spPr>
      </p:sp>
      <p:sp>
        <p:nvSpPr>
          <p:cNvPr id="47" name="Shape 45"/>
          <p:cNvSpPr/>
          <p:nvPr/>
        </p:nvSpPr>
        <p:spPr>
          <a:xfrm>
            <a:off x="10630553" y="5052060"/>
            <a:ext cx="479407" cy="114300"/>
          </a:xfrm>
          <a:prstGeom prst="roundRect">
            <a:avLst/>
          </a:prstGeom>
          <a:solidFill>
            <a:srgbClr val="4F88B9"/>
          </a:solidFill>
          <a:ln/>
        </p:spPr>
      </p:sp>
      <p:sp>
        <p:nvSpPr>
          <p:cNvPr id="48" name="Shape 46"/>
          <p:cNvSpPr/>
          <p:nvPr/>
        </p:nvSpPr>
        <p:spPr>
          <a:xfrm>
            <a:off x="10630553" y="3566160"/>
            <a:ext cx="479407" cy="1485900"/>
          </a:xfrm>
          <a:prstGeom prst="roundRect">
            <a:avLst/>
          </a:prstGeom>
          <a:solidFill>
            <a:srgbClr val="8068BD"/>
          </a:solidFill>
          <a:ln/>
        </p:spPr>
      </p:sp>
      <p:sp>
        <p:nvSpPr>
          <p:cNvPr id="49" name="Shape 47"/>
          <p:cNvSpPr/>
          <p:nvPr/>
        </p:nvSpPr>
        <p:spPr>
          <a:xfrm>
            <a:off x="10630553" y="3108960"/>
            <a:ext cx="479407" cy="457200"/>
          </a:xfrm>
          <a:prstGeom prst="roundRect">
            <a:avLst>
              <a:gd name="adj" fmla="val 8000"/>
            </a:avLst>
          </a:prstGeom>
          <a:solidFill>
            <a:srgbClr val="438D70"/>
          </a:solidFill>
          <a:ln/>
        </p:spPr>
      </p:sp>
      <p:sp>
        <p:nvSpPr>
          <p:cNvPr id="50" name="Text 48"/>
          <p:cNvSpPr/>
          <p:nvPr/>
        </p:nvSpPr>
        <p:spPr>
          <a:xfrm>
            <a:off x="10584833" y="5468112"/>
            <a:ext cx="57084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16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766560" y="5669280"/>
            <a:ext cx="128016" cy="128016"/>
          </a:xfrm>
          <a:prstGeom prst="ellipse">
            <a:avLst/>
          </a:prstGeom>
          <a:solidFill>
            <a:srgbClr val="C86F86"/>
          </a:solidFill>
          <a:ln/>
        </p:spPr>
      </p:sp>
      <p:sp>
        <p:nvSpPr>
          <p:cNvPr id="52" name="Text 50"/>
          <p:cNvSpPr/>
          <p:nvPr/>
        </p:nvSpPr>
        <p:spPr>
          <a:xfrm>
            <a:off x="6949440" y="5559552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6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818120" y="5669280"/>
            <a:ext cx="128016" cy="128016"/>
          </a:xfrm>
          <a:prstGeom prst="ellipse">
            <a:avLst/>
          </a:prstGeom>
          <a:solidFill>
            <a:srgbClr val="4F88B9"/>
          </a:solidFill>
          <a:ln/>
        </p:spPr>
      </p:sp>
      <p:sp>
        <p:nvSpPr>
          <p:cNvPr id="54" name="Text 52"/>
          <p:cNvSpPr/>
          <p:nvPr/>
        </p:nvSpPr>
        <p:spPr>
          <a:xfrm>
            <a:off x="8001000" y="5559552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6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869680" y="5669280"/>
            <a:ext cx="128016" cy="128016"/>
          </a:xfrm>
          <a:prstGeom prst="ellipse">
            <a:avLst/>
          </a:prstGeom>
          <a:solidFill>
            <a:srgbClr val="8068BD"/>
          </a:solidFill>
          <a:ln/>
        </p:spPr>
      </p:sp>
      <p:sp>
        <p:nvSpPr>
          <p:cNvPr id="56" name="Text 54"/>
          <p:cNvSpPr/>
          <p:nvPr/>
        </p:nvSpPr>
        <p:spPr>
          <a:xfrm>
            <a:off x="9052560" y="5559552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6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9921240" y="5669280"/>
            <a:ext cx="128016" cy="128016"/>
          </a:xfrm>
          <a:prstGeom prst="ellipse">
            <a:avLst/>
          </a:prstGeom>
          <a:solidFill>
            <a:srgbClr val="438D70"/>
          </a:solidFill>
          <a:ln/>
        </p:spPr>
      </p:sp>
      <p:sp>
        <p:nvSpPr>
          <p:cNvPr id="58" name="Text 56"/>
          <p:cNvSpPr/>
          <p:nvPr/>
        </p:nvSpPr>
        <p:spPr>
          <a:xfrm>
            <a:off x="10104120" y="5559552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6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6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5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A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EFF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Your data never leaves your browser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401568" cy="3291840"/>
          </a:xfrm>
          <a:prstGeom prst="roundRect">
            <a:avLst>
              <a:gd name="adj" fmla="val 3333"/>
            </a:avLst>
          </a:prstGeom>
          <a:solidFill>
            <a:srgbClr val="211E26"/>
          </a:solidFill>
          <a:ln w="12700">
            <a:solidFill>
              <a:srgbClr val="3933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532888"/>
            <a:ext cx="658368" cy="658368"/>
          </a:xfrm>
          <a:prstGeom prst="ellipse">
            <a:avLst/>
          </a:prstGeom>
          <a:solidFill>
            <a:srgbClr val="B8A8E6"/>
          </a:solidFill>
          <a:ln/>
        </p:spPr>
      </p:sp>
      <p:pic>
        <p:nvPicPr>
          <p:cNvPr id="6" name="Image 0" descr="icon_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260" y="2605308"/>
            <a:ext cx="513527" cy="513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355848"/>
            <a:ext cx="26700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3EFF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Signed local store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005840" y="4023360"/>
            <a:ext cx="267004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B8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segments, moods, and reflections are written to a signed local store, never synced to a server.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34256" y="2148840"/>
            <a:ext cx="3401568" cy="3291840"/>
          </a:xfrm>
          <a:prstGeom prst="roundRect">
            <a:avLst>
              <a:gd name="adj" fmla="val 3333"/>
            </a:avLst>
          </a:prstGeom>
          <a:solidFill>
            <a:srgbClr val="211E26"/>
          </a:solidFill>
          <a:ln w="12700">
            <a:solidFill>
              <a:srgbClr val="39333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00016" y="2532888"/>
            <a:ext cx="658368" cy="658368"/>
          </a:xfrm>
          <a:prstGeom prst="ellipse">
            <a:avLst/>
          </a:prstGeom>
          <a:solidFill>
            <a:srgbClr val="B8A8E6"/>
          </a:solidFill>
          <a:ln/>
        </p:spPr>
      </p:sp>
      <p:pic>
        <p:nvPicPr>
          <p:cNvPr id="11" name="Image 1" descr="icon_downlo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436" y="2605308"/>
            <a:ext cx="513527" cy="513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0016" y="3355848"/>
            <a:ext cx="26700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3EFF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Export &amp; import anytime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4700016" y="4023360"/>
            <a:ext cx="267004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B8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 portability. Take your history with you, or wipe it entirely in one action.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28432" y="2148840"/>
            <a:ext cx="3401568" cy="3291840"/>
          </a:xfrm>
          <a:prstGeom prst="roundRect">
            <a:avLst>
              <a:gd name="adj" fmla="val 3333"/>
            </a:avLst>
          </a:prstGeom>
          <a:solidFill>
            <a:srgbClr val="211E26"/>
          </a:solidFill>
          <a:ln w="12700">
            <a:solidFill>
              <a:srgbClr val="39333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94192" y="2532888"/>
            <a:ext cx="658368" cy="658368"/>
          </a:xfrm>
          <a:prstGeom prst="ellipse">
            <a:avLst/>
          </a:prstGeom>
          <a:solidFill>
            <a:srgbClr val="B8A8E6"/>
          </a:solidFill>
          <a:ln/>
        </p:spPr>
      </p:sp>
      <p:pic>
        <p:nvPicPr>
          <p:cNvPr id="16" name="Image 2" descr="icon_slid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6612" y="2605308"/>
            <a:ext cx="513527" cy="5135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94192" y="3355848"/>
            <a:ext cx="26700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3EFF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You control retention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394192" y="4023360"/>
            <a:ext cx="267004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B8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history for 30, 90, or 180 days, or forever. Pause tracking whenever you like.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40080" y="5806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8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used: tabs · storage · idle · alarms · notifications · scripting, all in service of local tracking and reminders only.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D7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723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Built as a lean Manifest V3 extension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1206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7E2EA"/>
            </a:solidFill>
            <a:prstDash val="solid"/>
          </a:ln>
          <a:effectLst>
            <a:outerShdw sx="100000" sy="100000" kx="0" ky="0" algn="bl" rotWithShape="0" blurRad="152400" dist="50800" dir="5400000">
              <a:srgbClr val="2A1F3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478024"/>
            <a:ext cx="960120" cy="960120"/>
          </a:xfrm>
          <a:prstGeom prst="ellipse">
            <a:avLst/>
          </a:prstGeom>
          <a:solidFill>
            <a:srgbClr val="8D78C9"/>
          </a:solidFill>
          <a:ln/>
        </p:spPr>
      </p:sp>
      <p:pic>
        <p:nvPicPr>
          <p:cNvPr id="6" name="Image 0" descr="icon_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733" y="2583637"/>
            <a:ext cx="748894" cy="7488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03120" y="240487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723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Background service worker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2103120" y="2862072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16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active-tab time, evaluates domain rules, and fires boundary reminders in real time.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035040" y="2148840"/>
            <a:ext cx="51206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7E2EA"/>
            </a:solidFill>
            <a:prstDash val="solid"/>
          </a:ln>
          <a:effectLst>
            <a:outerShdw sx="100000" sy="100000" kx="0" ky="0" algn="bl" rotWithShape="0" blurRad="152400" dist="50800" dir="5400000">
              <a:srgbClr val="2A1F36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55080" y="2478024"/>
            <a:ext cx="960120" cy="960120"/>
          </a:xfrm>
          <a:prstGeom prst="ellipse">
            <a:avLst/>
          </a:prstGeom>
          <a:solidFill>
            <a:srgbClr val="8D78C9"/>
          </a:solidFill>
          <a:ln/>
        </p:spPr>
      </p:sp>
      <p:pic>
        <p:nvPicPr>
          <p:cNvPr id="11" name="Image 1" descr="icon_cod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0693" y="2583637"/>
            <a:ext cx="748894" cy="7488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240487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723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React + TypeScript + Vite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498080" y="2862072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16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Popup, dashboard, and onboarding flow share one component library and a single theming layer.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4160520"/>
            <a:ext cx="51206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7E2EA"/>
            </a:solidFill>
            <a:prstDash val="solid"/>
          </a:ln>
          <a:effectLst>
            <a:outerShdw sx="100000" sy="100000" kx="0" ky="0" algn="bl" rotWithShape="0" blurRad="152400" dist="50800" dir="5400000">
              <a:srgbClr val="2A1F36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4489704"/>
            <a:ext cx="960120" cy="960120"/>
          </a:xfrm>
          <a:prstGeom prst="ellipse">
            <a:avLst/>
          </a:prstGeom>
          <a:solidFill>
            <a:srgbClr val="8D78C9"/>
          </a:solidFill>
          <a:ln/>
        </p:spPr>
      </p:sp>
      <p:pic>
        <p:nvPicPr>
          <p:cNvPr id="16" name="Image 2" descr="icon_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733" y="4595317"/>
            <a:ext cx="748894" cy="7488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103120" y="441655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723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Signed local state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2103120" y="4873752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16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versioned AppState object holds settings, rules, limits, segments, moods, and reflections.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035040" y="4160520"/>
            <a:ext cx="51206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7E2EA"/>
            </a:solidFill>
            <a:prstDash val="solid"/>
          </a:ln>
          <a:effectLst>
            <a:outerShdw sx="100000" sy="100000" kx="0" ky="0" algn="bl" rotWithShape="0" blurRad="152400" dist="50800" dir="5400000">
              <a:srgbClr val="2A1F36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55080" y="4489704"/>
            <a:ext cx="960120" cy="960120"/>
          </a:xfrm>
          <a:prstGeom prst="ellipse">
            <a:avLst/>
          </a:prstGeom>
          <a:solidFill>
            <a:srgbClr val="8D78C9"/>
          </a:solidFill>
          <a:ln/>
        </p:spPr>
      </p:sp>
      <p:pic>
        <p:nvPicPr>
          <p:cNvPr id="21" name="Image 3" descr="icon_cpu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0693" y="4595317"/>
            <a:ext cx="748894" cy="74889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0" y="441655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723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Shared classifier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498080" y="4873752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16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rule engine (`shared/classifier.ts`) categorizes every hostname consistently everywhere.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6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5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6400800" cy="6400800"/>
          </a:xfrm>
          <a:prstGeom prst="ellipse">
            <a:avLst/>
          </a:prstGeom>
          <a:solidFill>
            <a:srgbClr val="211E26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840480"/>
            <a:ext cx="5486400" cy="5486400"/>
          </a:xfrm>
          <a:prstGeom prst="ellipse">
            <a:avLst/>
          </a:prstGeom>
          <a:solidFill>
            <a:srgbClr val="211E2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A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STORY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EFF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Built from personal experience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54864" cy="1920240"/>
          </a:xfrm>
          <a:prstGeom prst="roundRect">
            <a:avLst/>
          </a:prstGeom>
          <a:solidFill>
            <a:srgbClr val="B8A8E6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468880"/>
            <a:ext cx="9509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i="1" dirty="0">
                <a:solidFill>
                  <a:srgbClr val="F3EFF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Nudge grew out of our own frustration with procrastination, especially since some of our team are on the autism spectrum. We wanted something supportive, not restrictive.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352044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B8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a reminder helps. Sometimes the side quest just needs to be finished. Nudge leaves that choice with you.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4709160"/>
            <a:ext cx="5120640" cy="1051560"/>
          </a:xfrm>
          <a:prstGeom prst="roundRect">
            <a:avLst>
              <a:gd name="adj" fmla="val 10435"/>
            </a:avLst>
          </a:prstGeom>
          <a:solidFill>
            <a:srgbClr val="211E26"/>
          </a:solidFill>
          <a:ln w="12700">
            <a:solidFill>
              <a:srgbClr val="39333F"/>
            </a:solidFill>
            <a:prstDash val="solid"/>
          </a:ln>
          <a:effectLst>
            <a:outerShdw sx="100000" sy="100000" kx="0" ky="0" algn="bl" rotWithShape="0" blurRad="152400" dist="50800" dir="5400000">
              <a:srgbClr val="2A1F36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48646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8A8E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Designed with empathy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14400" y="519379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brains that don't always follow the plan.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care by Josh, Izzy, and Shay.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5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400800" cy="6400800"/>
          </a:xfrm>
          <a:prstGeom prst="ellipse">
            <a:avLst/>
          </a:prstGeom>
          <a:solidFill>
            <a:srgbClr val="211E2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A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EFF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Roadmap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03704"/>
            <a:ext cx="128016" cy="128016"/>
          </a:xfrm>
          <a:prstGeom prst="ellipse">
            <a:avLst/>
          </a:prstGeom>
          <a:solidFill>
            <a:srgbClr val="B8A8E6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0574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Cross-browser support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236829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8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Firefox and Safari builds from the same shared core.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035040" y="2203704"/>
            <a:ext cx="128016" cy="128016"/>
          </a:xfrm>
          <a:prstGeom prst="ellipse">
            <a:avLst/>
          </a:prstGeom>
          <a:solidFill>
            <a:srgbClr val="B8A8E6"/>
          </a:solidFill>
          <a:ln/>
        </p:spPr>
      </p:sp>
      <p:sp>
        <p:nvSpPr>
          <p:cNvPr id="9" name="Text 7"/>
          <p:cNvSpPr/>
          <p:nvPr/>
        </p:nvSpPr>
        <p:spPr>
          <a:xfrm>
            <a:off x="6291072" y="20574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insights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91072" y="236829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8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Streak-free trend views: best focus windows, category momentum over time.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300984"/>
            <a:ext cx="128016" cy="128016"/>
          </a:xfrm>
          <a:prstGeom prst="ellipse">
            <a:avLst/>
          </a:prstGeom>
          <a:solidFill>
            <a:srgbClr val="B8A8E6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31546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integrations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96112" y="346557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8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personal-day boundaries with existing calendar tools.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35040" y="3300984"/>
            <a:ext cx="128016" cy="128016"/>
          </a:xfrm>
          <a:prstGeom prst="ellipse">
            <a:avLst/>
          </a:prstGeom>
          <a:solidFill>
            <a:srgbClr val="B8A8E6"/>
          </a:solidFill>
          <a:ln/>
        </p:spPr>
      </p:sp>
      <p:sp>
        <p:nvSpPr>
          <p:cNvPr id="15" name="Text 13"/>
          <p:cNvSpPr/>
          <p:nvPr/>
        </p:nvSpPr>
        <p:spPr>
          <a:xfrm>
            <a:off x="6291072" y="31546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boundaries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91072" y="346557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8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Optional, opt-in boundaries for teams or families, still never blocking.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709160"/>
            <a:ext cx="10881360" cy="0"/>
          </a:xfrm>
          <a:prstGeom prst="line">
            <a:avLst/>
          </a:prstGeom>
          <a:noFill/>
          <a:ln w="12700">
            <a:solidFill>
              <a:srgbClr val="39333F"/>
            </a:solidFill>
            <a:prstDash val="solid"/>
          </a:ln>
        </p:spPr>
      </p:sp>
      <p:pic>
        <p:nvPicPr>
          <p:cNvPr id="18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0"/>
            <a:ext cx="685800" cy="6858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463040" y="504748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EFF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 you.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1463040" y="550468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Nudge: mindful browsing boundaries, without blocking.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1463040" y="587044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A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joshon360hz.github.io/NudgeWeb  ·  github.com/JoshOn360Hz/NudgeExtension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2026-08-15T13:24:24Z</dcterms:created>
  <dcterms:modified xsi:type="dcterms:W3CDTF">2026-08-15T13:24:24Z</dcterms:modified>
</cp:coreProperties>
</file>